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00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45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for team members. It explains what the app does, how the code is structured, how to switch LLM providers, and how to extend the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here. Ground the team in what the app is from the user's view, then map it to what's in the code. This sets up every slide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step by step. Emphasize step 2: the knowledge base is injected at runtime on every call — the LLM has no memory between sessions. Step 5: the RULES block at the end of the system prompt prevents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KB is just plain text — no vector DB, no embedding. The LLM handles semantic search internally. This keeps the prototype simple. To upgrade: replace the hardcoded strings with a real RAG pipeline (e.g. the sample RAG code in the hackathon handbook).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team understanding. The system prompt = KB + RULES. No KB → no grounding. To test: remove the RULES block and ask an off-topic question — the LLM will answer anything. With it, it redirects.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option. Remind the team: only ONE should be active. Comment out the others with // before each line. The key format is the easiest way to identify which provider the key belongs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orient team members visually. Point to each numbered callout and explain which JavaScript function or variable backs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to team members so they can navigate the file. When editing, open in VS Code (pre-installed in the AI Lab) and use Ctrl+G to jump to a line number. The most important section for changes is the API Config block at line 594.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change the team will make. The content of the KB text can be as long as needed — the LLM handles it. Keep it factual and structured (bullet points work well). Avoid ambiguous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or keep it open as a second window while coding. All the common tasks are here. For deeper questions: refer to the earlier slides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457C5">
              <a:alpha val="22000"/>
            </a:srgbClr>
          </a:solidFill>
          <a:ln w="12700">
            <a:solidFill>
              <a:srgbClr val="2457C5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APPLICATION WORKS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CivicAI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Explainer for Team Members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Single HTML 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78892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LLM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Knowledge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78892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3 Providers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team use · TCS AI Fridays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APP?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citizen's perspective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4069080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402336" cy="402336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007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public-service-chatbot-final.html in any browser. No install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249424"/>
            <a:ext cx="4069080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2257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786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Knowledge Base entry in the sidebar (Permits, Tax, Health…)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4069080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45643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natural-language question or click a Quick Topic chip.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005072"/>
            <a:ext cx="4069080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0782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answer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3342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responds in ~2 seconds, grounded in the selected topic's data.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file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1728" y="1371600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C5D8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536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57800" y="14447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17007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chat interface — sidebar, message bubbles, quick-topic chips, input bar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81728" y="2249424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C5D8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57860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logic: send message, switch topic, call LLM API, render response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3127248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C5D8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3291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257800" y="320040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4564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hardcoded topic contexts injected as system prompts into every API call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81728" y="4005072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E8F0FE"/>
          </a:solidFill>
          <a:ln w="12700">
            <a:solidFill>
              <a:srgbClr val="C5D8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73168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257800" y="40782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Config Block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433425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commented provider options (Anthropic / OpenAI / Gemini) — swap with one edit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MESSAGE IS PROCESSED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475488" cy="475488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05156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Citizen types a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39903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in the textarea and presses Enter or clicks 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307592"/>
            <a:ext cx="475488" cy="47548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05156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Active KB context is injected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68112" y="139903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sendMessage() reads KNOWLEDGE_BASE[activeDoc] and prepends it as a system prompt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237744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System prompt is assembled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272491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context + RULES block are concatenated into one systemPrompt string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263347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237744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fetch() call to LLM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272491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request is sent to the active provider endpoint with the system prompt + user message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959352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" y="370332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generates a grounded answer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3272" y="405079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responds using ONLY the knowledge base context — it cannot invent facts outside 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92040" y="395935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8112" y="370332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Response rendered in chat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4050792"/>
            <a:ext cx="3364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mdToHtml() converts markdown → HTML. The bubble appears with a source badge showing the active KB topic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KNOWLEDGE_BASE is a JavaScript object at line 440 of the HTML file. Each key is a topic domain. When the user selects a domain in the sidebar, that key's text is injected as the LLM system prompt.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920240"/>
            <a:ext cx="8430768" cy="512064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2011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FAQs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56816" y="201168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"general"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1993392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hours, contacts, portal URL, overview of available services. Default on app load.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505456"/>
            <a:ext cx="8430768" cy="512064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" y="2596896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5968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Permits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56816" y="259689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"permits"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16352" y="2578608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construction ($250), renovation ($80), demolition ($150). Fees, processing times, required docs, how to apply.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090672"/>
            <a:ext cx="8430768" cy="512064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3182112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18211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Payments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56816" y="318211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"taxes"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6352" y="3163824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tax, business license, late penalties, payment methods, senior/low-income relief via Form TR-2.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675888"/>
            <a:ext cx="8430768" cy="512064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" y="376732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7673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Services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56816" y="376732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"health"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16352" y="3749040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District Health Centers, Emergency Clinic 24/7, free services, insurance accepted, appointments.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261104"/>
            <a:ext cx="8430768" cy="512064"/>
          </a:xfrm>
          <a:prstGeom prst="roundRect">
            <a:avLst>
              <a:gd name="adj" fmla="val 1785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" y="4352544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435254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Roads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56816" y="4352544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"transport"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16352" y="4334256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reporting, 45 bus routes, bus passes, parking permits, signal outages, road closure alerts.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4846320"/>
            <a:ext cx="8430768" cy="548640"/>
          </a:xfrm>
          <a:prstGeom prst="roundRect">
            <a:avLst>
              <a:gd name="adj" fmla="val 16667"/>
            </a:avLst>
          </a:prstGeom>
          <a:solidFill>
            <a:srgbClr val="FEF9EC"/>
          </a:solidFill>
          <a:ln w="12700">
            <a:solidFill>
              <a:srgbClr val="F5D87A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90118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To add a new domain: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12064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file → find const KNOWLEDGE_BASE = { → add a new key with your topic text → add a matching entry in KB_LABELS and a new sidebar button in the HTML.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PROMPT — HOW AI IS CONTROLLED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assembles a system prompt from two parts. This is the key mechanism that prevents hallucination.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30768" cy="1261872"/>
          </a:xfrm>
          <a:prstGeom prst="roundRect">
            <a:avLst>
              <a:gd name="adj" fmla="val 7246"/>
            </a:avLst>
          </a:prstGeom>
          <a:solidFill>
            <a:srgbClr val="E8F0FE"/>
          </a:solidFill>
          <a:ln w="12700">
            <a:solidFill>
              <a:srgbClr val="AECB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48132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5648" y="148132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Context  (dynamic — changes when user switches topic)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${KNOWLEDGE_BASE[activeDoc]}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full text of the active KB domain (e.g. all permit fees, procedures, contacts)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788920"/>
            <a:ext cx="8430768" cy="1481328"/>
          </a:xfrm>
          <a:prstGeom prst="roundRect">
            <a:avLst>
              <a:gd name="adj" fmla="val 6173"/>
            </a:avLst>
          </a:prstGeom>
          <a:solidFill>
            <a:srgbClr val="FEF9EC"/>
          </a:solidFill>
          <a:ln w="12700">
            <a:solidFill>
              <a:srgbClr val="F5D87A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" y="288036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880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55648" y="2880360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Block  (static — same on every call)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2735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Answer ONLY from the knowledge base context above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 concise, friendly, and professional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6758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bullet points for lists of steps or 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8770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out-of-scope: redirect to +1-800-CIVIC-00 or portal.city.gov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0782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NEVER fabricate fees, dates, or procedures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4325112"/>
            <a:ext cx="777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3708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Result: LLM always stays on-topic and cites only what's in the knowledge base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LLM PROVIDERS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config block lives at line 594 of the HTML. Only ONE option should be active at a time. To switch: comment out the active block, uncomment the new one, paste your key.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AECBF8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50876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Anthropic (default, active)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6432" y="150876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6432" y="15087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89280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format: sk-ant-...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5152" y="189280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at: console.anthropic.com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9397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claude-sonnet-4-6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45152" y="209397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Header: x-api-key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9514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data.content[0].text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269748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697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OpenAI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08152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format: sk-proj-...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45152" y="308152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at: platform.openai.com/api-keys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28269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gpt-4o  /  gpt-4o-mini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328269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Header: Authorization: Bearer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348386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data.choices[0].message.content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79476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8912" y="388620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— Google Gemini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427024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format: AIza...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427024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at: aistudio.google.com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447141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gemini-1.5-flash  /  gemini-1.5-pro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447141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Query param: ?key=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" y="467258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data.candidates[0].content.parts[0].text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COMPONENT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24128"/>
            <a:ext cx="2103120" cy="3767328"/>
          </a:xfrm>
          <a:prstGeom prst="roundRect">
            <a:avLst>
              <a:gd name="adj" fmla="val 3478"/>
            </a:avLst>
          </a:prstGeom>
          <a:solidFill>
            <a:srgbClr val="E8F0FE"/>
          </a:solidFill>
          <a:ln w="12700">
            <a:solidFill>
              <a:srgbClr val="AEC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241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" y="137160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37160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36192" y="137160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36192" y="137160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1993392"/>
            <a:ext cx="1956816" cy="292608"/>
          </a:xfrm>
          <a:prstGeom prst="roundRect">
            <a:avLst>
              <a:gd name="adj" fmla="val 15625"/>
            </a:avLst>
          </a:prstGeom>
          <a:solidFill>
            <a:srgbClr val="E8F0FE"/>
          </a:solidFill>
          <a:ln w="12700">
            <a:solidFill>
              <a:srgbClr val="AEC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99339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General FAQs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064" y="2340864"/>
            <a:ext cx="19568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340864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Building Permits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" y="2688336"/>
            <a:ext cx="19568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688336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Tax &amp; Payments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" y="3035808"/>
            <a:ext cx="19568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0358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" y="3383280"/>
            <a:ext cx="195681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3832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Transport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1024128"/>
            <a:ext cx="6053328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88920" y="1078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Query Resolution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1408176"/>
            <a:ext cx="1691640" cy="237744"/>
          </a:xfrm>
          <a:prstGeom prst="roundRect">
            <a:avLst>
              <a:gd name="adj" fmla="val 2307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88920" y="14081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Building Permit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1408176"/>
            <a:ext cx="1691640" cy="237744"/>
          </a:xfrm>
          <a:prstGeom prst="roundRect">
            <a:avLst>
              <a:gd name="adj" fmla="val 2307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14081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Property Tax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1408176"/>
            <a:ext cx="1691640" cy="237744"/>
          </a:xfrm>
          <a:prstGeom prst="roundRect">
            <a:avLst>
              <a:gd name="adj" fmla="val 23077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14081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 Services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1737360"/>
            <a:ext cx="3246120" cy="411480"/>
          </a:xfrm>
          <a:prstGeom prst="roundRect">
            <a:avLst>
              <a:gd name="adj" fmla="val 22222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get a building permit?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24912" y="2267712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98064" y="2286000"/>
            <a:ext cx="36941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for a building permit: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construction: $250 fee, 15–30 days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at permits.city.gov or City Hall Rm 104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24912" y="3127248"/>
            <a:ext cx="5120640" cy="347472"/>
          </a:xfrm>
          <a:prstGeom prst="roundRect">
            <a:avLst>
              <a:gd name="adj" fmla="val 21053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16352" y="31272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permits, taxes, health services…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18704" y="312724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18704" y="312724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0040" y="4663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Stat Cards: query count + avg time (JS variables)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0040" y="49560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KB Selector: sets activeDoc variable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Quick Chips: call sendQuick(text)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4663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Chat bubbles: user (blue) / bot (gray) divs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4956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Send button: calls sendMessage() on click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(inside the HTML file)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– 280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0332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design: layout, colors, cards, bubbles, animations, responsive rules. Edit here to change the look.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99616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59105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591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L281 – 430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5727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5727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(stats + KB list), chat panel (header, chips, messages, input). DOM elements wired to JS by id / onclick.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6654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1579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L431 – 440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139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21396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activeDoc = 'general'  ·  let queryCount = 0  ·  let isProcessing = false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72491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249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L440 – 476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27066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7066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keys: general, permits, taxes, health, transport. Plain text injected as system prompt on every API call.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29184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L477 – 560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08760" y="3273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273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selectDoc() · autoResize() · handleKey() · sendQuick() · now() · appendMsg() · showTyping() · removeTyping() · mdToHtml()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767328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8587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858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L557 – 563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08760" y="3840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KB_LABELS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03320" y="3840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key → display name shown in the source badge under each bot response (e.g. 'Building Permits Guide').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334256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44256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4256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L566 – 680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08760" y="44074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sendMessage() — API Config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4407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async function. Assembles system prompt → calls active provider → renders response. API config block at line 594.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EXTEND THE KNOWLEDGE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new service domain (e.g. 'Waste Management'), make 3 edits in the HTML file: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408176"/>
            <a:ext cx="402336" cy="402336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408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3898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KB entry  (around line 440)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1700784"/>
            <a:ext cx="777240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728216"/>
            <a:ext cx="76260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waste: `Waste Management knowledge base: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General waste: collected Mon &amp; Thu. Place bins by 7am.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Recycling: blue bin, collected every second Monday.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Bulk items: book at waste.city.gov or call 555-WASTE.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Hazardous waste: drop-off at 12 Civic Drive, Saturdays 9am–1pm.`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" y="262432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624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display label  (around line 557)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2916936"/>
            <a:ext cx="777240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76260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waste: 'Waste Management Guide',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8503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EF3FF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0624" y="38404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822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sidebar button  (around line 363 in HTML)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" y="4133088"/>
            <a:ext cx="777240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76260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class="kb-doc" onclick="selectDoc(this, 'waste')"&gt;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class="kb-doc-icon"&gt;🗑️&lt;/span&gt;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class="kb-doc-name"&gt;Waste Management&lt;/span&gt;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class="kb-doc-tag"&gt;GUIDE&lt;/span&gt;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457C5">
              <a:alpha val="20000"/>
            </a:srgbClr>
          </a:solidFill>
          <a:ln w="12700">
            <a:solidFill>
              <a:srgbClr val="2457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680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 while working on the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1704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12252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4721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HTML file in any browser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18562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9110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provider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1579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594 — comment/uncomment Option A/B/C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25420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" y="25968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new API key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8437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key string in the active Option block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278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32278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" y="32826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KB domain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5295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8: 3 edits (KB object, KB_LABELS, HTML button)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39136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6968" y="39684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colors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42153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:root variables at top of &lt;style&gt; block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1704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11704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21808" y="12252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model (Anthropic)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4721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(line 620)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8562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18562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19110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model (OpenAI)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1579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or gpt-4o-mini  (line 634)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5420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25420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21808" y="25968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model (Gemini)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28437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  (line 650)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278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32278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21808" y="32826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VS Code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35295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Ctrl+G → type line number to jump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913632"/>
            <a:ext cx="4069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2D5299"/>
            </a:solidFill>
            <a:prstDash val="solid"/>
          </a:ln>
          <a:effectLst>
            <a:outerShdw blurRad="889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391363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21808" y="39684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quick chips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21808" y="42153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~line 407: copy a .qt-chip div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1971</Words>
  <Application>Microsoft Office PowerPoint</Application>
  <PresentationFormat>Presentación en pantalla (16:9)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CivicAI – How It Works (Technical Explainer)</dc:title>
  <dc:subject>PptxGenJS Presentation</dc:subject>
  <dc:creator>TCS AI Fridays</dc:creator>
  <cp:lastModifiedBy>MORENO RICHARDI Hugo</cp:lastModifiedBy>
  <cp:revision>1</cp:revision>
  <dcterms:created xsi:type="dcterms:W3CDTF">2026-06-12T13:18:04Z</dcterms:created>
  <dcterms:modified xsi:type="dcterms:W3CDTF">2026-06-12T13:22:19Z</dcterms:modified>
</cp:coreProperties>
</file>